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2E74B5"/>
    <a:srgbClr val="0033CC"/>
    <a:srgbClr val="33CC33"/>
    <a:srgbClr val="FF0066"/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66AE95-4274-4ED9-A572-848662628088}" v="66" dt="2026-04-25T11:37:28.867"/>
    <p1510:client id="{D3152EA0-0D11-47CF-A850-7FBC521D333D}" v="6" dt="2026-04-25T13:03:51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720" y="77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01F3C-C27B-465B-A273-BC74619B8A22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47463-D813-48B6-A11C-461DFD224FF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40E63D3-61C8-709E-27B9-C5C0AB54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99F6F980-6E2A-30DF-B889-81B4001D0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47F373E-0DF7-0FC7-75AF-07383F1DB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1081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DF20D7F-67B8-2007-8DFB-B35B88B5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5676D0AC-5BB2-E90A-F072-E17E7772F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EDA4B80-05EF-5CA7-FE42-6805A18E6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3901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15E09AD-5192-E9D0-15A2-1EF1044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D642FE1-8542-C29F-DABA-774F641CD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432FC07B-4201-9315-2364-F9E5CB284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9368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6D475D6-73EB-D797-FEC4-729BDD90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66FBC4D-26A4-AF81-EFFF-318A8CC91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113BDA7C-EA2A-F270-AB45-0F2EE182F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532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C8D42CA-C104-C53D-22DE-5BAFFD42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A29AE4E4-EE97-7487-F254-7E857FADF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5CEFB1EE-7A13-A5AD-CECB-3274609EA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340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8E7DE2E-AB6F-D8A2-6734-638A3B9C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11D91421-48E7-3164-D422-996FF57E8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D49E7CF-58F2-B93C-1463-96F63336A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0015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A59B068-6AEA-1519-5084-95EC883B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853C2684-9255-5689-5217-1C6DB26DC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B9289DA6-9FFC-8901-2A45-866828FE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451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E0AD415-F6D3-696D-DCA2-CE3A6A88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8E94CCF4-EA5A-310C-7EE3-0EC098451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6ECB711-3D9F-31E9-3A2F-6642498B5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127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63F33AA-CDA4-C43A-C47D-E81CADF4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4F4DE930-9E4A-2DA8-2024-5B0980301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CD0B11BB-F417-C7F3-FEF6-2EB0730CD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147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66CE837-183F-BBF1-6A2F-0CAD748E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7A2F4EB1-B350-6AA7-D49A-570DF49AD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28A11C23-E9FF-3696-B2A9-8C92A8F4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7494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F50CC32-0364-1E68-BE05-0C58511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009D98B6-C9D3-B28B-4500-3170DF60D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E73C2B54-FFE5-A6D1-8EB5-76BB53BCD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6485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08315B7-67C0-AEC8-6EDD-0B69550A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E95E560B-6654-81CC-6A1E-C2532DA4F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E6B8EA52-8688-7A36-5C3A-A42F4704F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8405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512CC18-160D-4905-77A7-1DA551DF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AAE5F3C0-E13D-0628-A804-DAF4E74C5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87D624C3-B715-EE28-5DFA-082FA4E0F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8918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28EA357-F94B-2704-54F9-E83DA196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DBA3D0B1-A6BF-CD5B-42ED-599D9DF15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A95A3BD1-C4A3-610E-AE34-507E04EED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9154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1735138" y="4691063"/>
            <a:ext cx="1387792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49925" y="1219200"/>
            <a:ext cx="5848350" cy="328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75057" y="610208"/>
            <a:ext cx="7641886" cy="29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EAD"/>
              </a:buClr>
              <a:buSzPts val="1400"/>
              <a:buFont typeface="Arial" panose="020B0604020202020204"/>
              <a:buNone/>
              <a:defRPr sz="2110" b="1" i="0">
                <a:solidFill>
                  <a:srgbClr val="006EA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13852" y="1567199"/>
            <a:ext cx="10964297" cy="17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65" b="0" i="0">
                <a:solidFill>
                  <a:schemeClr val="dk1"/>
                </a:solidFill>
                <a:latin typeface="Lucida Sans" panose="020B0602030504020204"/>
                <a:ea typeface="Lucida Sans" panose="020B0602030504020204"/>
                <a:cs typeface="Lucida Sans" panose="020B0602030504020204"/>
                <a:sym typeface="Lucida Sans" panose="020B0602030504020204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8035742" y="6453840"/>
            <a:ext cx="3876270" cy="19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65" b="1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>
            <a:r>
              <a:rPr lang="en-GB"/>
              <a:t>Dayananda Sagar Academy of Technology &amp; Management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/>
            </a:lvl9pPr>
          </a:lstStyle>
          <a:p>
            <a:r>
              <a:rPr lang="en-US"/>
              <a:t>03-06-2024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2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03-06-2024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Dayananda Sagar Academy of Technology &amp; Management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E81A6-A127-43E8-95CE-66D0428E50D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9"/>
          <p:cNvSpPr>
            <a:spLocks noGrp="1"/>
          </p:cNvSpPr>
          <p:nvPr>
            <p:ph type="title"/>
          </p:nvPr>
        </p:nvSpPr>
        <p:spPr>
          <a:xfrm>
            <a:off x="1107976" y="1417221"/>
            <a:ext cx="9976044" cy="151122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SAP ABAP Solutions for Sales and Distribution Sector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ontent Placeholder 7"/>
          <p:cNvSpPr txBox="1"/>
          <p:nvPr/>
        </p:nvSpPr>
        <p:spPr>
          <a:xfrm>
            <a:off x="3392175" y="4345661"/>
            <a:ext cx="5407646" cy="730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Submitted By:</a:t>
            </a:r>
          </a:p>
          <a:p>
            <a:pPr marL="0" indent="0" algn="ctr"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PRAGADA HARATHI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1010917"/>
            <a:ext cx="121920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470715" y="6397573"/>
            <a:ext cx="27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Department of 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76" y="43296"/>
            <a:ext cx="9592457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kumimoji="0" lang="en-US" altLang="en-US" sz="2800" b="1" i="0" cap="none" normalizeH="0" baseline="0" dirty="0">
                <a:solidFill>
                  <a:srgbClr val="0033C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SURE Trust - SKILL UPGRADATION FOR RURAL YOUTH EMPOWERMENT</a:t>
            </a:r>
            <a:endParaRPr kumimoji="0" lang="en-US" altLang="en-US" sz="1400" b="1" i="0" cap="none" normalizeH="0" baseline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URE TRUST | LinkedIn">
            <a:extLst>
              <a:ext uri="{FF2B5EF4-FFF2-40B4-BE49-F238E27FC236}">
                <a16:creationId xmlns:a16="http://schemas.microsoft.com/office/drawing/2014/main" id="{C410E7BF-5010-7175-C036-613EB0DA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095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6003AE4-E7C2-DA05-C351-40530CD2D011}"/>
              </a:ext>
            </a:extLst>
          </p:cNvPr>
          <p:cNvSpPr txBox="1"/>
          <p:nvPr/>
        </p:nvSpPr>
        <p:spPr>
          <a:xfrm>
            <a:off x="3906035" y="5271755"/>
            <a:ext cx="4379925" cy="1423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 the Guidance of:</a:t>
            </a:r>
          </a:p>
          <a:p>
            <a:pPr marL="0" indent="0" algn="ctr"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Mr. </a:t>
            </a:r>
            <a:r>
              <a:rPr lang="en-IN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Santoshkumar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Ramlakhan Pal</a:t>
            </a:r>
          </a:p>
          <a:p>
            <a:pPr marL="0" indent="0"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SAP ABAP Associate Consultant</a:t>
            </a:r>
          </a:p>
          <a:p>
            <a:pPr marL="0" indent="0"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Infosys Limited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D040F-32D5-C056-871A-0DAE669FFA17}"/>
              </a:ext>
            </a:extLst>
          </p:cNvPr>
          <p:cNvSpPr txBox="1"/>
          <p:nvPr/>
        </p:nvSpPr>
        <p:spPr>
          <a:xfrm>
            <a:off x="3046428" y="3062293"/>
            <a:ext cx="6099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COURSE</a:t>
            </a:r>
            <a:r>
              <a:rPr lang="en-US" sz="2000" dirty="0"/>
              <a:t>: SAP ABAP</a:t>
            </a:r>
          </a:p>
          <a:p>
            <a:pPr algn="ctr"/>
            <a:endParaRPr lang="en-IN" sz="2000" dirty="0"/>
          </a:p>
          <a:p>
            <a:pPr algn="ctr"/>
            <a:r>
              <a:rPr lang="en-IN" sz="2000" b="1" dirty="0"/>
              <a:t>DURATION: </a:t>
            </a:r>
            <a:r>
              <a:rPr lang="en-IN" sz="2000" dirty="0"/>
              <a:t>NOV 2025 – APRIL  2026 (6 Months)</a:t>
            </a:r>
          </a:p>
        </p:txBody>
      </p:sp>
      <p:pic>
        <p:nvPicPr>
          <p:cNvPr id="1026" name="Picture 2" descr="AICTE">
            <a:extLst>
              <a:ext uri="{FF2B5EF4-FFF2-40B4-BE49-F238E27FC236}">
                <a16:creationId xmlns:a16="http://schemas.microsoft.com/office/drawing/2014/main" id="{9B7BDF65-5297-F751-A68A-BA1DE8902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9" t="24268" r="17421" b="22886"/>
          <a:stretch>
            <a:fillRect/>
          </a:stretch>
        </p:blipFill>
        <p:spPr bwMode="auto">
          <a:xfrm>
            <a:off x="11160724" y="106055"/>
            <a:ext cx="828900" cy="8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/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/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7293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       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83492" y="1079059"/>
            <a:ext cx="8479825" cy="527832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>
              <a:lnSpc>
                <a:spcPct val="150000"/>
              </a:lnSpc>
            </a:pP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SmartForm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 Report with Excel Download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(ME2M Report)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961757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DF531289-F69D-0C8A-7259-0F467CAC7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089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32FF9D-F959-F71C-25FE-7BEBC5D3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E925BBEF-D3C5-3285-FA2E-3A2192EDBC38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D9E5B34F-CC71-FAA9-2565-8F70070BC2B3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04DCB8FC-DE67-23C9-01BC-9CE5C0057090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72F21793-EFDB-C062-EFC2-FA4B8526B52B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B8CF71EA-4FA1-FDC5-865F-3FF3E1717AF9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034F-1E22-7A77-4EBE-F678EB1D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35" y="1263831"/>
            <a:ext cx="10883085" cy="4609554"/>
          </a:xfrm>
        </p:spPr>
        <p:txBody>
          <a:bodyPr>
            <a:noAutofit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and distribution sector produces high volume of data related to customers, sales orders, deliveries and billing operations.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well-organized data management is crucial for reliable decision-making and operational efficiency.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and processing are effectively handled using ERP systems like SAP.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ABAP helps in building custom reports and streamlining operations through automation..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enhance sales and distribution reporting using SAP tools</a:t>
            </a:r>
            <a:r>
              <a:rPr lang="en-US" sz="2000" dirty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51150380-7398-219C-135B-310F10B99B21}"/>
              </a:ext>
            </a:extLst>
          </p:cNvPr>
          <p:cNvSpPr/>
          <p:nvPr/>
        </p:nvSpPr>
        <p:spPr>
          <a:xfrm>
            <a:off x="0" y="98461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2DB2B7D-A1BA-DE5F-39D0-A447DC772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506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6FF48F8A-4F71-A6BF-1421-7EC9AEE06FE8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637F29A0-AF90-B300-C1CB-151F8A60160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F7686-5870-B646-A278-B49BFF35A0C7}"/>
              </a:ext>
            </a:extLst>
          </p:cNvPr>
          <p:cNvSpPr/>
          <p:nvPr/>
        </p:nvSpPr>
        <p:spPr>
          <a:xfrm>
            <a:off x="4291780" y="-105844"/>
            <a:ext cx="352705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04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CFD7D80-7E86-62D0-DFFC-483FC841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01682E92-D735-BFDF-7D15-BAB2697513DB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6C9F5DB3-502C-5A09-5D67-D054A6B23D59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81FE0C49-9A3A-A3B6-7C0E-7D7AC6A595AC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1C62EF9E-A635-1AE9-78E5-FD9B8B44085F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89D6A3B2-C446-E2DB-C09A-15FEC371B0A8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CA3A669A-3045-E065-7B1D-21A0095D0F03}"/>
              </a:ext>
            </a:extLst>
          </p:cNvPr>
          <p:cNvSpPr/>
          <p:nvPr/>
        </p:nvSpPr>
        <p:spPr>
          <a:xfrm>
            <a:off x="0" y="98461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E79D876-0505-2A2F-EAFD-DBB370F9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" y="167935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8AC988E6-AB4D-E3DF-5CB0-5BEAEE5AE79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CDCEC937-54E8-253B-6F55-DF51D42589E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EAD89-8B86-5C82-77E0-CE83D21B3921}"/>
              </a:ext>
            </a:extLst>
          </p:cNvPr>
          <p:cNvSpPr/>
          <p:nvPr/>
        </p:nvSpPr>
        <p:spPr>
          <a:xfrm>
            <a:off x="3470056" y="-142058"/>
            <a:ext cx="5251887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D3F265A-03E8-2E54-1DFB-8ECADD70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09" y="-133069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BE97C00-A234-6481-4AEB-0C4433F69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9643" y="1537256"/>
            <a:ext cx="10137712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sales and customer information results in inaccuracies.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a structured and automated reporting framework in sales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interpreting large volumes of sales, order, and billing data.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an effective mechanism to extract and share data for external use.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Lengthy and inefficient process for generating sales and distribution reports. </a:t>
            </a:r>
          </a:p>
        </p:txBody>
      </p:sp>
    </p:spTree>
    <p:extLst>
      <p:ext uri="{BB962C8B-B14F-4D97-AF65-F5344CB8AC3E}">
        <p14:creationId xmlns:p14="http://schemas.microsoft.com/office/powerpoint/2010/main" val="207286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246A32D-147D-9C53-69F4-DF491398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4CC988EF-063F-09BB-0CDC-9E3029F7BD6D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B01179AB-034D-495C-9A46-FF66239ED270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8F49A9E7-6605-8EAD-6D3D-15F66220BEB6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4A9D1D7D-A001-CF4F-4802-17EF750AC9CD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5EC9BF49-2E70-D2C8-A2B1-FB6C629459C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212C8BE4-B8E6-5473-72A5-7D4A8540329E}"/>
              </a:ext>
            </a:extLst>
          </p:cNvPr>
          <p:cNvSpPr/>
          <p:nvPr/>
        </p:nvSpPr>
        <p:spPr>
          <a:xfrm>
            <a:off x="0" y="101985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BA51C7A-C85E-CEC1-0800-D6766087B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321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513AD037-5384-CABD-B720-7CC16A31288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4A1CD68F-35C1-7B20-1082-4CE90EA9275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F4D61-A23B-BBA6-144B-0F8FB748D3A1}"/>
              </a:ext>
            </a:extLst>
          </p:cNvPr>
          <p:cNvSpPr/>
          <p:nvPr/>
        </p:nvSpPr>
        <p:spPr>
          <a:xfrm>
            <a:off x="4291780" y="-105844"/>
            <a:ext cx="2953053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0CB814-EB19-36E2-044D-7E50A59DB8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591303"/>
            <a:ext cx="11024428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Form for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professional sales data presentation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ALV report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analyzing sales and distribution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export functionality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data sharing and external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report execution using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 (ME2M)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seamless integration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SAP reports.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and data handling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sales and distribution processes. </a:t>
            </a:r>
          </a:p>
        </p:txBody>
      </p:sp>
    </p:spTree>
    <p:extLst>
      <p:ext uri="{BB962C8B-B14F-4D97-AF65-F5344CB8AC3E}">
        <p14:creationId xmlns:p14="http://schemas.microsoft.com/office/powerpoint/2010/main" val="287194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BE9AC67-9D79-553D-6B1F-7CFFD7B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818D5B6C-877C-7524-25BE-6EF552FFDE7C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24307FD5-EAAF-BD01-80F6-49E7D6784637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B9E8042F-28D1-CB90-10F8-FE6E300B020E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C34C1D4F-B3B3-26D7-ED6D-EC76E7EB24CA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CDF92277-9048-2E8D-6CF8-BFB52C8DD4DA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38F79358-F525-E108-1863-6AF1B60956F8}"/>
              </a:ext>
            </a:extLst>
          </p:cNvPr>
          <p:cNvSpPr/>
          <p:nvPr/>
        </p:nvSpPr>
        <p:spPr>
          <a:xfrm>
            <a:off x="-9650" y="961756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35D25350-B53A-DE50-EEE0-7B428762D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47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B0706F80-AE31-D679-7700-251DD3B9F4DC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31CCA1BB-640A-41EB-2C18-7CE2AA7FBC6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D7AB1-5975-88AD-6959-E588E0111FD6}"/>
              </a:ext>
            </a:extLst>
          </p:cNvPr>
          <p:cNvSpPr/>
          <p:nvPr/>
        </p:nvSpPr>
        <p:spPr>
          <a:xfrm>
            <a:off x="3227586" y="-165930"/>
            <a:ext cx="5736827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4FDB27-C851-69EB-3F1C-A3D7E53D1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921889"/>
            <a:ext cx="6171048" cy="524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ABAP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Programming for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Forms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Formatted document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ALV (ABAP List Viewer)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GUI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System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SE38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ABAP coding editor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SE11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Table and data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SE80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Object development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40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49D7091-8C7C-0CF0-CF76-E12D2B42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9D010E6A-6B46-062D-8482-357319E8FEAD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76D0DC41-267C-04DC-0EE9-7865456CDB0C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394F6E59-146C-3A3A-A524-99408E391307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90CF39C-EE14-82E3-ECC1-0DBF6F889964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0E746132-C5AB-6589-3E0C-4E16F4848A35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752C4264-B8B2-28A3-EEEF-48AFEF3201B9}"/>
              </a:ext>
            </a:extLst>
          </p:cNvPr>
          <p:cNvSpPr/>
          <p:nvPr/>
        </p:nvSpPr>
        <p:spPr>
          <a:xfrm>
            <a:off x="0" y="971718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F8335E0F-CFE4-0C3B-2C77-3046471C3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018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4D2863D8-0B9A-1DA9-5699-5469835FB55E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7004CC5D-BA72-280E-D4D2-2694ECC742C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8ECFF-9CBB-65A5-E4FA-58624809FA87}"/>
              </a:ext>
            </a:extLst>
          </p:cNvPr>
          <p:cNvSpPr/>
          <p:nvPr/>
        </p:nvSpPr>
        <p:spPr>
          <a:xfrm>
            <a:off x="3847564" y="-105844"/>
            <a:ext cx="4496872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7C14B3-7241-E4FA-D832-6BA42AB2E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5047" y="1547038"/>
            <a:ext cx="5799986" cy="396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SmartForm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Development: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BUT000 and KNA1 tables.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Presents data in a structured format. 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ALV Report with Excel Export: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report with sorting and filtering features.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Supports data download functionality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ME2M Report via SUBMIT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Executes standard SAP report using SUBMIT. </a:t>
            </a:r>
          </a:p>
        </p:txBody>
      </p:sp>
    </p:spTree>
    <p:extLst>
      <p:ext uri="{BB962C8B-B14F-4D97-AF65-F5344CB8AC3E}">
        <p14:creationId xmlns:p14="http://schemas.microsoft.com/office/powerpoint/2010/main" val="129412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1D460C7-9C68-6D25-2084-3BEE0351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29995E0F-4CE4-B6B2-BBFE-D1277B3C672E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8A30238C-1EDD-DF90-D68F-24E563ADE76B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2B1FB2B2-6EB3-0181-68B8-D026C10A9329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9E6A656-9E31-FEA3-0792-F83D31B62809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BB0C89BA-5EA5-625D-D7E5-E273C2179A5E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3C3B5-5288-BF5F-C2D1-015696DE8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Autofit/>
          </a:bodyPr>
          <a:lstStyle/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Extraction: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dirty="0"/>
              <a:t>                 Data is retrieved from SAP tables using efficient selection logic.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000" dirty="0"/>
              <a:t>Data is processed using ABAP logic to generate meaningful insights.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Generation: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dirty="0"/>
              <a:t>                 Smart Forms produce formatted output, while ALV provides interactive display. 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used to execute standard ME2M report.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dirty="0"/>
              <a:t>              Smart Forms produce formatted output, while ALV provides interactive display.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fontAlgn="base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 fontAlgn="base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are displayed on screen and can be exported to Excel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DD14B77-01E1-C92C-5FCF-F3637BA07AB8}"/>
              </a:ext>
            </a:extLst>
          </p:cNvPr>
          <p:cNvSpPr/>
          <p:nvPr/>
        </p:nvSpPr>
        <p:spPr>
          <a:xfrm>
            <a:off x="0" y="988744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C2C27168-B304-A748-6EBC-E68FDA329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440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824C8935-8C77-4814-C0D9-C36508453BC7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7C5C41CA-52EB-106F-2704-9187804AAFA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55A47-8344-3855-C38A-C8EEB394D096}"/>
              </a:ext>
            </a:extLst>
          </p:cNvPr>
          <p:cNvSpPr/>
          <p:nvPr/>
        </p:nvSpPr>
        <p:spPr>
          <a:xfrm>
            <a:off x="4291780" y="-105844"/>
            <a:ext cx="379302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</p:spTree>
    <p:extLst>
      <p:ext uri="{BB962C8B-B14F-4D97-AF65-F5344CB8AC3E}">
        <p14:creationId xmlns:p14="http://schemas.microsoft.com/office/powerpoint/2010/main" val="262398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A3175FE-A375-B7FB-B3CA-1612DFB90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DA1807C2-3CC8-1D22-7694-A299DD70959F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1C65AFFB-ADB2-488D-37D2-98C89CB1FC91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FF6F4797-0C4B-B268-EB7B-5167424534E3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404F27C5-3D39-9B76-F9FF-351C77016708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175C621D-F133-53D0-12E0-E83DE51A3D4A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031109DA-6741-E8A6-6EF3-E28C7D996D95}"/>
              </a:ext>
            </a:extLst>
          </p:cNvPr>
          <p:cNvSpPr/>
          <p:nvPr/>
        </p:nvSpPr>
        <p:spPr>
          <a:xfrm>
            <a:off x="0" y="965285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B7629F0A-144A-D730-FD4E-6D5C7D051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" y="90342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173679F1-5546-C5FB-5631-6E33FE85BAFC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8C35D944-6047-7AC0-6EFD-456EA37CDE5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7F009B-32DD-B95E-673D-43001486C636}"/>
              </a:ext>
            </a:extLst>
          </p:cNvPr>
          <p:cNvSpPr/>
          <p:nvPr/>
        </p:nvSpPr>
        <p:spPr>
          <a:xfrm>
            <a:off x="2267067" y="-89417"/>
            <a:ext cx="7657866" cy="10676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 err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SmartForm</a:t>
            </a:r>
            <a:r>
              <a:rPr lang="en-IN" sz="48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3D770-5B08-3612-998E-5C78946BC8AF}"/>
              </a:ext>
            </a:extLst>
          </p:cNvPr>
          <p:cNvSpPr/>
          <p:nvPr/>
        </p:nvSpPr>
        <p:spPr>
          <a:xfrm>
            <a:off x="7903205" y="5986701"/>
            <a:ext cx="254050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</a:t>
            </a:r>
            <a:r>
              <a:rPr lang="en-US" sz="2000" b="0" cap="none" spc="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Smartform</a:t>
            </a:r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4CAA3-B51E-6ED7-33D8-F86AD2652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448" y="1083433"/>
            <a:ext cx="5448965" cy="5012567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7A71928-118D-FB63-BC7B-B0978F302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080361"/>
            <a:ext cx="5535618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Form developed using the SAP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retrieved from BUT000 and KNA1 tables.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layout includes: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Header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Main Window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Footer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Customer and related data in a well-formatted,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output. </a:t>
            </a:r>
          </a:p>
        </p:txBody>
      </p:sp>
    </p:spTree>
    <p:extLst>
      <p:ext uri="{BB962C8B-B14F-4D97-AF65-F5344CB8AC3E}">
        <p14:creationId xmlns:p14="http://schemas.microsoft.com/office/powerpoint/2010/main" val="166522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D443355-A54C-00A1-6CD6-06C86DD7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1EE24F65-8A67-0670-24C6-6D0651C04D55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2A596068-7D0E-A04A-6493-2F8395B60D5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690C8A21-F104-3D46-19C5-7C8F4A8BF84D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0A279EF4-639B-9CB1-737C-683918BE9C46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08663181-4601-196A-72E9-42505EA91474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51FC151-665A-8359-A9CB-E2C2645135D5}"/>
              </a:ext>
            </a:extLst>
          </p:cNvPr>
          <p:cNvSpPr/>
          <p:nvPr/>
        </p:nvSpPr>
        <p:spPr>
          <a:xfrm>
            <a:off x="0" y="971239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25B893F-5BA3-8B7E-F7E3-DFA0D4D4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284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92FA8761-AC97-70BB-2731-16DB17BF8861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C28C5224-A842-4A20-9FB0-A710EB74A81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BD8E2-511D-DC3A-9019-022B95E6AB60}"/>
              </a:ext>
            </a:extLst>
          </p:cNvPr>
          <p:cNvSpPr/>
          <p:nvPr/>
        </p:nvSpPr>
        <p:spPr>
          <a:xfrm>
            <a:off x="1524203" y="-66557"/>
            <a:ext cx="8397363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ALV Report with Excel Download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C8E9D-B3F8-0CEC-78B6-A11C2C027764}"/>
              </a:ext>
            </a:extLst>
          </p:cNvPr>
          <p:cNvSpPr/>
          <p:nvPr/>
        </p:nvSpPr>
        <p:spPr>
          <a:xfrm>
            <a:off x="7947441" y="5759637"/>
            <a:ext cx="23822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ALV Excel Output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1547FF-933B-0161-31B4-FA3B6BB72E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629773"/>
            <a:ext cx="5852371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ALV (ABAP List Viewer)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Presents data in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tabular format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Sorting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Filtering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download functionality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D92897-CE25-B7BA-A5DB-5F6BFA387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900" y="1110652"/>
            <a:ext cx="568721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7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E9F2F79-D3D8-5B1B-F8F3-99BEB597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6152B426-D8FF-90AB-29D9-308573F7FE42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34A3ED3A-A6A2-9F97-6B1F-4A4053AD8A97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22AEB6E5-A135-0E68-DCB3-F7F5704FF02E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0EE280C3-75DF-E61E-C453-18B80AEA89F2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4579D51D-B789-B8B5-C737-4FC20F1AAFBE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3D42-29A3-8514-DCE7-0BC18E53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15" y="1240971"/>
            <a:ext cx="10883085" cy="4609554"/>
          </a:xfrm>
        </p:spPr>
        <p:txBody>
          <a:bodyPr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statement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SAP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ABAP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SAP program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(ME2M report)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required parameters: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Material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Plant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output consistent with the standard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ME2M report </a:t>
            </a:r>
          </a:p>
          <a:p>
            <a:pPr lvl="0" algn="just" fontAlgn="base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EAF0FF85-CEE9-67DE-53DF-6757BD3206AE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E83A0F2C-78F0-49DF-57B9-6D3CEC727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43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F90C85E8-1987-38DF-B1F1-45AFFDD540DA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F40277A5-50BA-8F14-DB4A-5C505F2BA7C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70BB2-51A9-CAAE-A62C-380228B25004}"/>
              </a:ext>
            </a:extLst>
          </p:cNvPr>
          <p:cNvSpPr/>
          <p:nvPr/>
        </p:nvSpPr>
        <p:spPr>
          <a:xfrm>
            <a:off x="2675922" y="-163932"/>
            <a:ext cx="6472669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 (ME2M Report)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741D8-93D0-DFA7-0324-2E9485145E87}"/>
              </a:ext>
            </a:extLst>
          </p:cNvPr>
          <p:cNvSpPr/>
          <p:nvPr/>
        </p:nvSpPr>
        <p:spPr>
          <a:xfrm>
            <a:off x="8119337" y="5950486"/>
            <a:ext cx="21082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Fig: ME2M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62D95-A127-6D4C-9107-DC6AAE80C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51968"/>
            <a:ext cx="5755821" cy="498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5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AF47F760-FA2D-9D65-D8DA-FC0F43DE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0B2D8C6D-CC06-A1BD-C34C-FF0FA981B25A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CE204C94-CC74-013A-762D-C2975C894F4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C643A6B8-718F-3E87-8DDA-0AF5D0A30623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B61C9929-D41E-0410-37EC-429045A31285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477C1B9E-570A-AEC7-CED9-08D4808F88E5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BDC67D1-9A77-CD10-60B8-7BBCFC04D21D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8CB5A208-1331-D60D-49B6-171BDE9DD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399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FFBB30B3-C6DD-7D12-F70D-1FCEDBC170EF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AF65AED1-08EC-0E22-7CCC-7264549E678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393C8-E439-6DB4-798D-F8B2BA8C888F}"/>
              </a:ext>
            </a:extLst>
          </p:cNvPr>
          <p:cNvSpPr/>
          <p:nvPr/>
        </p:nvSpPr>
        <p:spPr>
          <a:xfrm>
            <a:off x="4942279" y="-174373"/>
            <a:ext cx="1939955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765EC2-6A45-2639-07E0-36C6573B76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629773"/>
            <a:ext cx="6853736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generated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Form output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ALV report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download functionality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ME2M report execution using SUBMIT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Minimized manual effort and enhanced efficiency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well-structured data reporting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4059098-92DA-AA35-CCC6-44FA56C6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D21D8A73-9320-BBDA-E201-6ED7A89B0A3C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0782481D-61E2-75EC-4ACC-84A0796FF474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C2DF4997-09DE-886E-A949-7EFE1F886B17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C38A02F6-E196-CCAF-5E0E-01BAD06F7BF6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9B3E3595-ACE5-451B-3B79-479FA80C393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41035F3-FD1F-8A7B-D6E1-2B814FBE2904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9B8C5226-83C0-55B3-4903-5872A0AF1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633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1B5D1637-30AD-2389-34AB-CDA356E4C979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1EEEEB5F-5023-1A9E-BC60-64094614C6A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54E23-8F72-6CEF-D687-428C2392C90F}"/>
              </a:ext>
            </a:extLst>
          </p:cNvPr>
          <p:cNvSpPr/>
          <p:nvPr/>
        </p:nvSpPr>
        <p:spPr>
          <a:xfrm>
            <a:off x="3477135" y="-82832"/>
            <a:ext cx="4870244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7E3C2F-B491-4F62-2127-71376E23C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630" y="1688752"/>
            <a:ext cx="8755410" cy="330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Applicable in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and distribution organizations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management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customer, order, and billing data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minimizes errors in sales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ERP-driven digital transformation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sales processes.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decision-making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real-time sales insights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66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7DA224F-D02E-57A1-93EC-96770D7B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7AB583CD-8A98-1AFB-881E-28F2A3E214F2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884A829D-7357-EE9A-61F7-FB296D03AF3D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F7363B98-FEFE-0403-E2B1-EED6B7AD2AC8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FAB1B32F-AEF0-D5CB-8C4D-8ED1168712DB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FD8A8F9E-C338-4AB3-02BF-E9E4415D8792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8855E9E4-78AA-AF25-87F6-755616C88E12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1235FFB8-1D6D-6A5C-547C-DE4034112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063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62B44F3C-2457-302B-379A-A9A996395E4D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1A963D91-F443-DE0B-47F7-6FE56EEAE53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C3C47-0712-B096-138D-6E6529A65F55}"/>
              </a:ext>
            </a:extLst>
          </p:cNvPr>
          <p:cNvSpPr/>
          <p:nvPr/>
        </p:nvSpPr>
        <p:spPr>
          <a:xfrm>
            <a:off x="3477135" y="-82832"/>
            <a:ext cx="4964821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3CB78B-1D65-AC60-99CC-75431C2FA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364316"/>
            <a:ext cx="8482130" cy="436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Acquired proficiency in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ABAP development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Forms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document output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ALV reports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enhanced usability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export capability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sharing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the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 statement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analytical problem-solving skills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understanding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SAP project implementation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94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72D452F-26ED-19DD-79C9-D31D8C94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4E1EF011-4187-D287-9659-1ADC45AD075E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14C174E1-C4DC-23B4-AB70-10DD03857CC2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34108475-059F-5BC7-F0DD-CC77F2522DE5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E31BA1E8-D276-1AC0-74E2-1532F162F66F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5DEC0424-A912-A7FD-1CD9-5F258144D8FB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971D0F0A-90C8-06A0-86ED-5613FDF85F83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AA6404BE-F8D6-D55E-EB23-44BAF180F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029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21507F1E-2CB9-8F29-0880-B4B2FE6A399B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8BEA070F-598A-3BF5-CA47-369AE9880B7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2E470-2245-10F9-7A2F-C43F0EC7BAE8}"/>
              </a:ext>
            </a:extLst>
          </p:cNvPr>
          <p:cNvSpPr/>
          <p:nvPr/>
        </p:nvSpPr>
        <p:spPr>
          <a:xfrm>
            <a:off x="4470997" y="-116753"/>
            <a:ext cx="2882520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BB5387-E07F-80B6-1651-4E79A1331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098859"/>
            <a:ext cx="963385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and distribution reporting system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ABAP.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Forms, ALV, and SUBMIT functionalities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end-to-end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and reporting efficiency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sales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intervention through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reporting processes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application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ERP in the sales and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64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CA9A05B-2C82-D6C0-96DF-8673F996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E09BEA44-EC60-B928-1AF2-A3C569715D28}"/>
              </a:ext>
            </a:extLst>
          </p:cNvPr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B453F830-FDEA-C9F6-3428-6C9B80874E3A}"/>
                </a:ext>
              </a:extLst>
            </p:cNvPr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D7CCB0E4-9E46-3825-6A98-A5B66467AD3D}"/>
                </a:ext>
              </a:extLst>
            </p:cNvPr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>
              <a:extLst>
                <a:ext uri="{FF2B5EF4-FFF2-40B4-BE49-F238E27FC236}">
                  <a16:creationId xmlns:a16="http://schemas.microsoft.com/office/drawing/2014/main" id="{F93A4D8B-0C94-DA60-FA8B-39631CE5C93E}"/>
                </a:ext>
              </a:extLst>
            </p:cNvPr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CFCEFF18-13E3-97F8-AF2C-28239D262DED}"/>
                </a:ext>
              </a:extLst>
            </p:cNvPr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A3EA087D-C288-D069-6B16-F20277C9CFF9}"/>
              </a:ext>
            </a:extLst>
          </p:cNvPr>
          <p:cNvSpPr/>
          <p:nvPr/>
        </p:nvSpPr>
        <p:spPr>
          <a:xfrm>
            <a:off x="0" y="939742"/>
            <a:ext cx="12192000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05FF16A5-6F32-2BC0-162E-4432BEE7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410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C0B0447A-239B-0061-2B61-94CB301B3B15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43A7E537-A071-DA2E-D027-97D26C95CD4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4E6B14-8F9E-6357-12C8-7804216672E0}"/>
              </a:ext>
            </a:extLst>
          </p:cNvPr>
          <p:cNvSpPr/>
          <p:nvPr/>
        </p:nvSpPr>
        <p:spPr>
          <a:xfrm>
            <a:off x="4218812" y="-102485"/>
            <a:ext cx="3386889" cy="9863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80F655-9523-AB74-DD14-5AF769BCB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003705"/>
            <a:ext cx="11587916" cy="5083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 Fiori apps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 modern and user-friendly sales interface.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sales dashboards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orders, revenue, and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and external sales systems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for sales forecasting and demand planning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processing and billing workflows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faster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on-the-go sales tracking and approvals.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pricing, customer behavior, and sales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 (CRM) integration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insights. </a:t>
            </a:r>
          </a:p>
        </p:txBody>
      </p:sp>
    </p:spTree>
    <p:extLst>
      <p:ext uri="{BB962C8B-B14F-4D97-AF65-F5344CB8AC3E}">
        <p14:creationId xmlns:p14="http://schemas.microsoft.com/office/powerpoint/2010/main" val="3831967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/>
          <p:cNvGrpSpPr/>
          <p:nvPr/>
        </p:nvGrpSpPr>
        <p:grpSpPr>
          <a:xfrm>
            <a:off x="0" y="6350596"/>
            <a:ext cx="12192188" cy="507405"/>
            <a:chOff x="-514" y="9019181"/>
            <a:chExt cx="17348468" cy="721995"/>
          </a:xfrm>
        </p:grpSpPr>
        <p:sp>
          <p:nvSpPr>
            <p:cNvPr id="96" name="Google Shape;96;p1"/>
            <p:cNvSpPr/>
            <p:nvPr/>
          </p:nvSpPr>
          <p:spPr>
            <a:xfrm>
              <a:off x="5293059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8" y="0"/>
                  </a:moveTo>
                  <a:lnTo>
                    <a:pt x="357644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8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260091" y="9019181"/>
              <a:ext cx="1647825" cy="721995"/>
            </a:xfrm>
            <a:custGeom>
              <a:avLst/>
              <a:gdLst/>
              <a:ahLst/>
              <a:cxnLst/>
              <a:rect l="l" t="t" r="r" b="b"/>
              <a:pathLst>
                <a:path w="1647825" h="721995" extrusionOk="0">
                  <a:moveTo>
                    <a:pt x="1647579" y="0"/>
                  </a:moveTo>
                  <a:lnTo>
                    <a:pt x="357645" y="0"/>
                  </a:lnTo>
                  <a:lnTo>
                    <a:pt x="0" y="721979"/>
                  </a:lnTo>
                  <a:lnTo>
                    <a:pt x="1289933" y="721979"/>
                  </a:lnTo>
                  <a:lnTo>
                    <a:pt x="1647579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5757299" y="9019181"/>
              <a:ext cx="11590655" cy="721995"/>
            </a:xfrm>
            <a:custGeom>
              <a:avLst/>
              <a:gdLst/>
              <a:ahLst/>
              <a:cxnLst/>
              <a:rect l="l" t="t" r="r" b="b"/>
              <a:pathLst>
                <a:path w="11590655" h="721995" extrusionOk="0">
                  <a:moveTo>
                    <a:pt x="11590369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11590369" y="721979"/>
                  </a:lnTo>
                  <a:lnTo>
                    <a:pt x="11590369" y="0"/>
                  </a:lnTo>
                  <a:close/>
                </a:path>
              </a:pathLst>
            </a:custGeom>
            <a:solidFill>
              <a:srgbClr val="FFF4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-514" y="9019181"/>
              <a:ext cx="4516755" cy="721995"/>
            </a:xfrm>
            <a:custGeom>
              <a:avLst/>
              <a:gdLst/>
              <a:ahLst/>
              <a:cxnLst/>
              <a:rect l="l" t="t" r="r" b="b"/>
              <a:pathLst>
                <a:path w="4516755" h="721995" extrusionOk="0">
                  <a:moveTo>
                    <a:pt x="4516274" y="0"/>
                  </a:moveTo>
                  <a:lnTo>
                    <a:pt x="0" y="0"/>
                  </a:lnTo>
                  <a:lnTo>
                    <a:pt x="0" y="721979"/>
                  </a:lnTo>
                  <a:lnTo>
                    <a:pt x="4516274" y="721979"/>
                  </a:lnTo>
                  <a:lnTo>
                    <a:pt x="4516274" y="0"/>
                  </a:lnTo>
                  <a:close/>
                </a:path>
              </a:pathLst>
            </a:custGeom>
            <a:solidFill>
              <a:srgbClr val="006E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5"/>
                <a:buFont typeface="Arial" panose="020B0604020202020204"/>
                <a:buNone/>
              </a:pPr>
              <a:endParaRPr sz="12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35" y="1098550"/>
            <a:ext cx="11156315" cy="5069205"/>
          </a:xfrm>
        </p:spPr>
        <p:txBody>
          <a:bodyPr>
            <a:normAutofit/>
          </a:bodyPr>
          <a:lstStyle/>
          <a:p>
            <a:pPr marL="3657600" lvl="8" indent="0" algn="ctr" fontAlgn="base">
              <a:buNone/>
            </a:pPr>
            <a:r>
              <a:rPr lang="en-US" sz="4600" dirty="0"/>
              <a:t>                                                                                           </a:t>
            </a:r>
            <a:r>
              <a:rPr lang="en-US" sz="5000" dirty="0"/>
              <a:t>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DA8578-638A-7C1F-520C-8DFC8B9D0B37}"/>
              </a:ext>
            </a:extLst>
          </p:cNvPr>
          <p:cNvSpPr/>
          <p:nvPr/>
        </p:nvSpPr>
        <p:spPr>
          <a:xfrm>
            <a:off x="4371745" y="2967335"/>
            <a:ext cx="34485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SURE TRUST | LinkedIn">
            <a:extLst>
              <a:ext uri="{FF2B5EF4-FFF2-40B4-BE49-F238E27FC236}">
                <a16:creationId xmlns:a16="http://schemas.microsoft.com/office/drawing/2014/main" id="{D5BB1497-0F73-32FE-D0CE-DC81DF486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43"/>
            <a:ext cx="780465" cy="7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3752D223-7B4F-AB28-6EBB-3A1C037011D5}"/>
              </a:ext>
            </a:extLst>
          </p:cNvPr>
          <p:cNvSpPr txBox="1"/>
          <p:nvPr/>
        </p:nvSpPr>
        <p:spPr>
          <a:xfrm>
            <a:off x="770279" y="6423025"/>
            <a:ext cx="1358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SAP ABAP</a:t>
            </a:r>
            <a:endParaRPr sz="1800" b="0" i="0" u="none" strike="noStrike" cap="none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9CB9C11B-CA39-7B72-9C19-212F35FEF4F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4038600" y="6423025"/>
            <a:ext cx="717239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50" rIns="0" bIns="0" anchor="t" anchorCtr="0">
            <a:spAutoFit/>
          </a:bodyPr>
          <a:lstStyle/>
          <a:p>
            <a: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7600" algn="l"/>
              </a:tabLst>
            </a:pPr>
            <a:r>
              <a:rPr lang="en-US" altLang="en-US" sz="2000" dirty="0">
                <a:solidFill>
                  <a:schemeClr val="tx1"/>
                </a:solidFill>
                <a:ea typeface="Calibri" panose="020F0502020204030204" pitchFamily="34" charset="0"/>
                <a:cs typeface="+mn-lt"/>
                <a:sym typeface="+mn-ea"/>
              </a:rPr>
              <a:t>SURE Trust </a:t>
            </a:r>
            <a:endParaRPr sz="2000" i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992</Words>
  <Application>Microsoft Office PowerPoint</Application>
  <PresentationFormat>Widescreen</PresentationFormat>
  <Paragraphs>191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Lucida Sans</vt:lpstr>
      <vt:lpstr>Times New Roman</vt:lpstr>
      <vt:lpstr>Office Theme</vt:lpstr>
      <vt:lpstr>SAP ABAP Solutions for Sales and Distribution Sector</vt:lpstr>
      <vt:lpstr>                                   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K Harsha Vardhan</dc:creator>
  <cp:lastModifiedBy>Pragada Harathi</cp:lastModifiedBy>
  <cp:revision>201</cp:revision>
  <dcterms:created xsi:type="dcterms:W3CDTF">2024-05-30T15:07:00Z</dcterms:created>
  <dcterms:modified xsi:type="dcterms:W3CDTF">2026-04-25T13:06:46Z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C5E5455C90C6415CB805DC0E30F1BC26_13</vt:lpwstr>
  </property>
  <property fmtid="{D5CDD505-2E9C-101B-9397-08002B2CF9AE}" pid="3" name="KSOProductBuildVer">
    <vt:lpwstr>1033-12.2.0.13472</vt:lpwstr>
  </property>
</Properties>
</file>